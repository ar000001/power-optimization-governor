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F07664B-063A-4FF6-B1A6-10B9114356C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A2822E6-9D02-435E-9A55-4863693DBD9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585909FC-C31E-45DF-8021-2E2E650AC91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29560" y="98460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Governor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529560" y="219816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</a:rPr>
              <a:t>Adam Rakun &amp; Matteo D’Urso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Embedded Systems (5063EMSY6Y)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A. Pathania, H. Xu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" name="" descr=""/>
          <p:cNvPicPr/>
          <p:nvPr/>
        </p:nvPicPr>
        <p:blipFill>
          <a:blip r:embed="rId1"/>
          <a:srcRect l="0" t="7261" r="0" b="0"/>
          <a:stretch/>
        </p:blipFill>
        <p:spPr>
          <a:xfrm>
            <a:off x="0" y="1715040"/>
            <a:ext cx="10079640" cy="569160"/>
          </a:xfrm>
          <a:prstGeom prst="rect">
            <a:avLst/>
          </a:prstGeom>
          <a:ln w="0">
            <a:noFill/>
          </a:ln>
        </p:spPr>
      </p:pic>
      <p:pic>
        <p:nvPicPr>
          <p:cNvPr id="12" name="" descr=""/>
          <p:cNvPicPr/>
          <p:nvPr/>
        </p:nvPicPr>
        <p:blipFill>
          <a:blip r:embed="rId2"/>
          <a:stretch/>
        </p:blipFill>
        <p:spPr>
          <a:xfrm>
            <a:off x="1600200" y="313200"/>
            <a:ext cx="6701040" cy="907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Overall structure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Design-Time component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Look-Up table for a fixed component order, and partition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points.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Run-Time component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MIMO PID controllers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DVFS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Partition points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Design-Time: Look-Up table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Matrix that contains all (TP, Latency) pairs of a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</a:rPr>
              <a:t>G-B-L, 4-6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pipeline.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All entries compared against target TP and Latency → choose configuration with lowest error.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Assumption: given that this is overall an efficient pipeline, the optimal solution will be close to this solution.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Run-Time: MIMO PID-Controller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MIMO PID → 2 nested PIDs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Partition points → Latency, TP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DVFS → Latency, TP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constrained optimization problem: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</a:rPr>
              <a:t>minimize power consumption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 while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</a:rPr>
              <a:t>meeting TP and latency targets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</a:rPr>
              <a:t>Model-free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variation: because few data → bad model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PID Controller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" name="" descr=""/>
          <p:cNvPicPr/>
          <p:nvPr/>
        </p:nvPicPr>
        <p:blipFill>
          <a:blip r:embed="rId1"/>
          <a:stretch/>
        </p:blipFill>
        <p:spPr>
          <a:xfrm>
            <a:off x="685800" y="1936800"/>
            <a:ext cx="8458200" cy="3009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PID Decisions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Power Estimation Model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70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4133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Simple rule derived from measurements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Calculate a workload fraction for a specific component: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</a:rPr>
              <a:t>weighted_frac = frac_layers * </a:t>
            </a:r>
            <a:r>
              <a:rPr b="0" lang="en-US" sz="1600" spc="-1" strike="noStrike">
                <a:solidFill>
                  <a:srgbClr val="00a933"/>
                </a:solidFill>
                <a:latin typeface="Consolas"/>
              </a:rPr>
              <a:t>alexnet_layer_computation_load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CPUs: </a:t>
            </a:r>
            <a:r>
              <a:rPr b="0" lang="en-US" sz="1600" spc="-1" strike="noStrike">
                <a:solidFill>
                  <a:srgbClr val="000000"/>
                </a:solidFill>
                <a:latin typeface="Consolas"/>
              </a:rPr>
              <a:t>power(cpu) = weighted_frac(cpu) * </a:t>
            </a:r>
            <a:r>
              <a:rPr b="0" lang="en-US" sz="1600" spc="-1" strike="noStrike">
                <a:solidFill>
                  <a:srgbClr val="c9211e"/>
                </a:solidFill>
                <a:latin typeface="Consolas"/>
              </a:rPr>
              <a:t>fx_power(cpu)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GPUs:</a:t>
            </a:r>
            <a:r>
              <a:rPr b="0" lang="en-US" sz="2400" spc="-1" strike="noStrike">
                <a:solidFill>
                  <a:srgbClr val="000000"/>
                </a:solidFill>
                <a:latin typeface="Consolas"/>
              </a:rPr>
              <a:t> </a:t>
            </a:r>
            <a:r>
              <a:rPr b="0" lang="en-US" sz="1600" spc="-1" strike="noStrike">
                <a:solidFill>
                  <a:srgbClr val="000000"/>
                </a:solidFill>
                <a:latin typeface="Consolas"/>
              </a:rPr>
              <a:t>power(gpu) = weighted_frac(gpu) * </a:t>
            </a:r>
            <a:r>
              <a:rPr b="0" lang="en-US" sz="1600" spc="-1" strike="noStrike">
                <a:solidFill>
                  <a:srgbClr val="c9211e"/>
                </a:solidFill>
                <a:latin typeface="Consolas"/>
              </a:rPr>
              <a:t>POWER_GPU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Overhead: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</a:rPr>
              <a:t>(big_cpu_freq * </a:t>
            </a:r>
            <a:r>
              <a:rPr b="0" lang="en-US" sz="1600" spc="-1" strike="noStrike">
                <a:solidFill>
                  <a:srgbClr val="c9211e"/>
                </a:solidFill>
                <a:latin typeface="Consolas"/>
              </a:rPr>
              <a:t>big_cpu_overhead</a:t>
            </a:r>
            <a:r>
              <a:rPr b="0" lang="en-US" sz="1600" spc="-1" strike="noStrike">
                <a:solidFill>
                  <a:srgbClr val="000000"/>
                </a:solidFill>
                <a:latin typeface="Consolas"/>
              </a:rPr>
              <a:t> +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0">
              <a:spcBef>
                <a:spcPts val="850"/>
              </a:spcBef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</a:rPr>
              <a:t>little_cpu_freq * </a:t>
            </a:r>
            <a:r>
              <a:rPr b="0" lang="en-US" sz="1600" spc="-1" strike="noStrike">
                <a:solidFill>
                  <a:srgbClr val="c9211e"/>
                </a:solidFill>
                <a:latin typeface="Consolas"/>
              </a:rPr>
              <a:t>little_cpu_overhead</a:t>
            </a:r>
            <a:r>
              <a:rPr b="0" lang="en-US" sz="1600" spc="-1" strike="noStrike">
                <a:solidFill>
                  <a:srgbClr val="000000"/>
                </a:solidFill>
                <a:latin typeface="Consolas"/>
              </a:rPr>
              <a:t>) * </a:t>
            </a:r>
            <a:r>
              <a:rPr b="0" lang="en-US" sz="1600" spc="-1" strike="noStrike">
                <a:solidFill>
                  <a:srgbClr val="c9211e"/>
                </a:solidFill>
                <a:latin typeface="Consolas"/>
              </a:rPr>
              <a:t>scale_</a:t>
            </a:r>
            <a:r>
              <a:rPr b="0" lang="en-US" sz="1600" spc="-1" strike="noStrike">
                <a:solidFill>
                  <a:srgbClr val="00a933"/>
                </a:solidFill>
                <a:latin typeface="Consolas"/>
              </a:rPr>
              <a:t>factor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r>
              <a:rPr b="0" lang="en-US" sz="2000" spc="-1" strike="noStrike">
                <a:solidFill>
                  <a:srgbClr val="c9211e"/>
                </a:solidFill>
                <a:latin typeface="Arial"/>
              </a:rPr>
              <a:t>*: found by experiments</a:t>
            </a:r>
            <a:r>
              <a:rPr b="0" lang="en-US" sz="2000" spc="-1" strike="noStrike">
                <a:solidFill>
                  <a:srgbClr val="c9211e"/>
                </a:solidFill>
                <a:latin typeface="Arial"/>
              </a:rPr>
              <a:t>	</a:t>
            </a:r>
            <a:r>
              <a:rPr b="0" lang="en-US" sz="2000" spc="-1" strike="noStrike">
                <a:solidFill>
                  <a:srgbClr val="00a933"/>
                </a:solidFill>
                <a:latin typeface="Arial"/>
              </a:rPr>
              <a:t>	</a:t>
            </a:r>
            <a:r>
              <a:rPr b="0" lang="en-US" sz="2000" spc="-1" strike="noStrike">
                <a:solidFill>
                  <a:srgbClr val="00a933"/>
                </a:solidFill>
                <a:latin typeface="Arial"/>
              </a:rPr>
              <a:t>*: found by trial and error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2026-01-26T20:24:35Z</dcterms:created>
  <dc:creator/>
  <dc:description/>
  <dc:language>en-US</dc:language>
  <cp:lastModifiedBy/>
  <dcterms:modified xsi:type="dcterms:W3CDTF">2026-01-27T12:05:21Z</dcterms:modified>
  <cp:revision>1</cp:revision>
  <dc:subject/>
  <dc:title/>
</cp:coreProperties>
</file>