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8" r:id="rId3"/>
    <p:sldId id="259" r:id="rId4"/>
    <p:sldId id="260" r:id="rId5"/>
    <p:sldId id="262" r:id="rId6"/>
    <p:sldId id="261" r:id="rId7"/>
    <p:sldId id="263" r:id="rId8"/>
    <p:sldId id="264" r:id="rId9"/>
  </p:sldIdLst>
  <p:sldSz cx="10080625" cy="5670550"/>
  <p:notesSz cx="7559675" cy="10691813"/>
  <p:defaultTextStyle>
    <a:defPPr>
      <a:defRPr lang="en-SI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26" d="100"/>
          <a:sy n="126" d="100"/>
        </p:scale>
        <p:origin x="82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dam Rakun" userId="8052db6c05b989cf" providerId="LiveId" clId="{0BF334EB-8488-46D5-99AB-7FABFFE2AE92}"/>
    <pc:docChg chg="undo custSel addSld delSld modSld sldOrd">
      <pc:chgData name="Adam Rakun" userId="8052db6c05b989cf" providerId="LiveId" clId="{0BF334EB-8488-46D5-99AB-7FABFFE2AE92}" dt="2026-01-29T13:13:40.132" v="398" actId="1076"/>
      <pc:docMkLst>
        <pc:docMk/>
      </pc:docMkLst>
      <pc:sldChg chg="modSp del mod">
        <pc:chgData name="Adam Rakun" userId="8052db6c05b989cf" providerId="LiveId" clId="{0BF334EB-8488-46D5-99AB-7FABFFE2AE92}" dt="2026-01-29T12:51:01.447" v="372" actId="2696"/>
        <pc:sldMkLst>
          <pc:docMk/>
          <pc:sldMk cId="0" sldId="257"/>
        </pc:sldMkLst>
        <pc:spChg chg="mod">
          <ac:chgData name="Adam Rakun" userId="8052db6c05b989cf" providerId="LiveId" clId="{0BF334EB-8488-46D5-99AB-7FABFFE2AE92}" dt="2026-01-28T15:19:13.068" v="15" actId="27636"/>
          <ac:spMkLst>
            <pc:docMk/>
            <pc:sldMk cId="0" sldId="257"/>
            <ac:spMk id="14" creationId="{00000000-0000-0000-0000-000000000000}"/>
          </ac:spMkLst>
        </pc:spChg>
      </pc:sldChg>
      <pc:sldChg chg="modSp mod">
        <pc:chgData name="Adam Rakun" userId="8052db6c05b989cf" providerId="LiveId" clId="{0BF334EB-8488-46D5-99AB-7FABFFE2AE92}" dt="2026-01-29T13:03:06.449" v="373" actId="20577"/>
        <pc:sldMkLst>
          <pc:docMk/>
          <pc:sldMk cId="0" sldId="258"/>
        </pc:sldMkLst>
        <pc:spChg chg="mod">
          <ac:chgData name="Adam Rakun" userId="8052db6c05b989cf" providerId="LiveId" clId="{0BF334EB-8488-46D5-99AB-7FABFFE2AE92}" dt="2026-01-29T13:03:06.449" v="373" actId="20577"/>
          <ac:spMkLst>
            <pc:docMk/>
            <pc:sldMk cId="0" sldId="258"/>
            <ac:spMk id="16" creationId="{00000000-0000-0000-0000-000000000000}"/>
          </ac:spMkLst>
        </pc:spChg>
      </pc:sldChg>
      <pc:sldChg chg="addSp modSp mod">
        <pc:chgData name="Adam Rakun" userId="8052db6c05b989cf" providerId="LiveId" clId="{0BF334EB-8488-46D5-99AB-7FABFFE2AE92}" dt="2026-01-29T13:05:21.033" v="383" actId="20577"/>
        <pc:sldMkLst>
          <pc:docMk/>
          <pc:sldMk cId="0" sldId="259"/>
        </pc:sldMkLst>
        <pc:spChg chg="mod">
          <ac:chgData name="Adam Rakun" userId="8052db6c05b989cf" providerId="LiveId" clId="{0BF334EB-8488-46D5-99AB-7FABFFE2AE92}" dt="2026-01-29T13:05:21.033" v="383" actId="20577"/>
          <ac:spMkLst>
            <pc:docMk/>
            <pc:sldMk cId="0" sldId="259"/>
            <ac:spMk id="18" creationId="{00000000-0000-0000-0000-000000000000}"/>
          </ac:spMkLst>
        </pc:spChg>
        <pc:picChg chg="add mod">
          <ac:chgData name="Adam Rakun" userId="8052db6c05b989cf" providerId="LiveId" clId="{0BF334EB-8488-46D5-99AB-7FABFFE2AE92}" dt="2026-01-29T12:31:09.025" v="155" actId="1076"/>
          <ac:picMkLst>
            <pc:docMk/>
            <pc:sldMk cId="0" sldId="259"/>
            <ac:picMk id="2" creationId="{1A3C8685-4201-9B43-5965-AC1449C56C0E}"/>
          </ac:picMkLst>
        </pc:picChg>
        <pc:picChg chg="add mod">
          <ac:chgData name="Adam Rakun" userId="8052db6c05b989cf" providerId="LiveId" clId="{0BF334EB-8488-46D5-99AB-7FABFFE2AE92}" dt="2026-01-29T12:33:44.749" v="165" actId="14100"/>
          <ac:picMkLst>
            <pc:docMk/>
            <pc:sldMk cId="0" sldId="259"/>
            <ac:picMk id="3" creationId="{4BE9434B-798B-E812-4DAF-AFEE55CC9C6E}"/>
          </ac:picMkLst>
        </pc:picChg>
      </pc:sldChg>
      <pc:sldChg chg="modSp mod">
        <pc:chgData name="Adam Rakun" userId="8052db6c05b989cf" providerId="LiveId" clId="{0BF334EB-8488-46D5-99AB-7FABFFE2AE92}" dt="2026-01-28T15:19:13.073" v="16" actId="27636"/>
        <pc:sldMkLst>
          <pc:docMk/>
          <pc:sldMk cId="0" sldId="260"/>
        </pc:sldMkLst>
        <pc:spChg chg="mod">
          <ac:chgData name="Adam Rakun" userId="8052db6c05b989cf" providerId="LiveId" clId="{0BF334EB-8488-46D5-99AB-7FABFFE2AE92}" dt="2026-01-28T15:19:13.073" v="16" actId="27636"/>
          <ac:spMkLst>
            <pc:docMk/>
            <pc:sldMk cId="0" sldId="260"/>
            <ac:spMk id="20" creationId="{00000000-0000-0000-0000-000000000000}"/>
          </ac:spMkLst>
        </pc:spChg>
      </pc:sldChg>
      <pc:sldChg chg="addSp delSp modSp mod">
        <pc:chgData name="Adam Rakun" userId="8052db6c05b989cf" providerId="LiveId" clId="{0BF334EB-8488-46D5-99AB-7FABFFE2AE92}" dt="2026-01-29T12:44:07.374" v="204" actId="14100"/>
        <pc:sldMkLst>
          <pc:docMk/>
          <pc:sldMk cId="0" sldId="261"/>
        </pc:sldMkLst>
        <pc:spChg chg="del mod">
          <ac:chgData name="Adam Rakun" userId="8052db6c05b989cf" providerId="LiveId" clId="{0BF334EB-8488-46D5-99AB-7FABFFE2AE92}" dt="2026-01-29T12:43:56.948" v="198" actId="21"/>
          <ac:spMkLst>
            <pc:docMk/>
            <pc:sldMk cId="0" sldId="261"/>
            <ac:spMk id="21" creationId="{00000000-0000-0000-0000-000000000000}"/>
          </ac:spMkLst>
        </pc:spChg>
        <pc:spChg chg="del mod">
          <ac:chgData name="Adam Rakun" userId="8052db6c05b989cf" providerId="LiveId" clId="{0BF334EB-8488-46D5-99AB-7FABFFE2AE92}" dt="2026-01-29T12:42:56.442" v="171" actId="21"/>
          <ac:spMkLst>
            <pc:docMk/>
            <pc:sldMk cId="0" sldId="261"/>
            <ac:spMk id="22" creationId="{00000000-0000-0000-0000-000000000000}"/>
          </ac:spMkLst>
        </pc:spChg>
        <pc:picChg chg="add mod">
          <ac:chgData name="Adam Rakun" userId="8052db6c05b989cf" providerId="LiveId" clId="{0BF334EB-8488-46D5-99AB-7FABFFE2AE92}" dt="2026-01-29T12:44:07.374" v="204" actId="14100"/>
          <ac:picMkLst>
            <pc:docMk/>
            <pc:sldMk cId="0" sldId="261"/>
            <ac:picMk id="3" creationId="{7EB8B955-DFF1-3A2F-E283-7BA5205C7390}"/>
          </ac:picMkLst>
        </pc:picChg>
        <pc:picChg chg="del mod">
          <ac:chgData name="Adam Rakun" userId="8052db6c05b989cf" providerId="LiveId" clId="{0BF334EB-8488-46D5-99AB-7FABFFE2AE92}" dt="2026-01-29T12:43:31.818" v="187" actId="478"/>
          <ac:picMkLst>
            <pc:docMk/>
            <pc:sldMk cId="0" sldId="261"/>
            <ac:picMk id="23" creationId="{00000000-0000-0000-0000-000000000000}"/>
          </ac:picMkLst>
        </pc:picChg>
      </pc:sldChg>
      <pc:sldChg chg="addSp delSp modSp mod ord">
        <pc:chgData name="Adam Rakun" userId="8052db6c05b989cf" providerId="LiveId" clId="{0BF334EB-8488-46D5-99AB-7FABFFE2AE92}" dt="2026-01-29T12:43:46.497" v="193"/>
        <pc:sldMkLst>
          <pc:docMk/>
          <pc:sldMk cId="0" sldId="262"/>
        </pc:sldMkLst>
        <pc:spChg chg="add mod">
          <ac:chgData name="Adam Rakun" userId="8052db6c05b989cf" providerId="LiveId" clId="{0BF334EB-8488-46D5-99AB-7FABFFE2AE92}" dt="2026-01-28T15:19:13.049" v="14"/>
          <ac:spMkLst>
            <pc:docMk/>
            <pc:sldMk cId="0" sldId="262"/>
            <ac:spMk id="2" creationId="{75FBA287-C940-2E99-C48F-9F3E9B469729}"/>
          </ac:spMkLst>
        </pc:spChg>
        <pc:spChg chg="add mod">
          <ac:chgData name="Adam Rakun" userId="8052db6c05b989cf" providerId="LiveId" clId="{0BF334EB-8488-46D5-99AB-7FABFFE2AE92}" dt="2026-01-28T15:40:17.163" v="144" actId="20577"/>
          <ac:spMkLst>
            <pc:docMk/>
            <pc:sldMk cId="0" sldId="262"/>
            <ac:spMk id="3" creationId="{1B36280C-CA59-9431-AE44-ADEEA4A18FCA}"/>
          </ac:spMkLst>
        </pc:spChg>
        <pc:spChg chg="mod">
          <ac:chgData name="Adam Rakun" userId="8052db6c05b989cf" providerId="LiveId" clId="{0BF334EB-8488-46D5-99AB-7FABFFE2AE92}" dt="2026-01-28T15:19:49.068" v="24" actId="1076"/>
          <ac:spMkLst>
            <pc:docMk/>
            <pc:sldMk cId="0" sldId="262"/>
            <ac:spMk id="24" creationId="{00000000-0000-0000-0000-000000000000}"/>
          </ac:spMkLst>
        </pc:spChg>
        <pc:spChg chg="add del">
          <ac:chgData name="Adam Rakun" userId="8052db6c05b989cf" providerId="LiveId" clId="{0BF334EB-8488-46D5-99AB-7FABFFE2AE92}" dt="2026-01-28T15:19:15.165" v="17"/>
          <ac:spMkLst>
            <pc:docMk/>
            <pc:sldMk cId="0" sldId="262"/>
            <ac:spMk id="25" creationId="{00000000-0000-0000-0000-000000000000}"/>
          </ac:spMkLst>
        </pc:spChg>
      </pc:sldChg>
      <pc:sldChg chg="modSp mod">
        <pc:chgData name="Adam Rakun" userId="8052db6c05b989cf" providerId="LiveId" clId="{0BF334EB-8488-46D5-99AB-7FABFFE2AE92}" dt="2026-01-28T15:16:09.004" v="3" actId="27636"/>
        <pc:sldMkLst>
          <pc:docMk/>
          <pc:sldMk cId="0" sldId="263"/>
        </pc:sldMkLst>
        <pc:spChg chg="mod">
          <ac:chgData name="Adam Rakun" userId="8052db6c05b989cf" providerId="LiveId" clId="{0BF334EB-8488-46D5-99AB-7FABFFE2AE92}" dt="2026-01-28T15:16:09.004" v="3" actId="27636"/>
          <ac:spMkLst>
            <pc:docMk/>
            <pc:sldMk cId="0" sldId="263"/>
            <ac:spMk id="27" creationId="{00000000-0000-0000-0000-000000000000}"/>
          </ac:spMkLst>
        </pc:spChg>
      </pc:sldChg>
      <pc:sldChg chg="addSp modSp new mod">
        <pc:chgData name="Adam Rakun" userId="8052db6c05b989cf" providerId="LiveId" clId="{0BF334EB-8488-46D5-99AB-7FABFFE2AE92}" dt="2026-01-29T13:13:40.132" v="398" actId="1076"/>
        <pc:sldMkLst>
          <pc:docMk/>
          <pc:sldMk cId="4109480173" sldId="264"/>
        </pc:sldMkLst>
        <pc:picChg chg="add mod">
          <ac:chgData name="Adam Rakun" userId="8052db6c05b989cf" providerId="LiveId" clId="{0BF334EB-8488-46D5-99AB-7FABFFE2AE92}" dt="2026-01-29T13:13:40.132" v="398" actId="1076"/>
          <ac:picMkLst>
            <pc:docMk/>
            <pc:sldMk cId="4109480173" sldId="264"/>
            <ac:picMk id="4" creationId="{98232BF4-BECE-2F13-E651-E9467ADC0F63}"/>
          </ac:picMkLst>
        </pc:picChg>
        <pc:picChg chg="add mod">
          <ac:chgData name="Adam Rakun" userId="8052db6c05b989cf" providerId="LiveId" clId="{0BF334EB-8488-46D5-99AB-7FABFFE2AE92}" dt="2026-01-29T13:13:37.772" v="396" actId="14100"/>
          <ac:picMkLst>
            <pc:docMk/>
            <pc:sldMk cId="4109480173" sldId="264"/>
            <ac:picMk id="5" creationId="{FA8AB9F9-287C-0196-5B02-B4F6748B6570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2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171677AE-8188-4B05-A3FB-CCD03111BDDD}" type="slidenum">
              <a:t>‹#›</a:t>
            </a:fld>
            <a:endParaRPr/>
          </a:p>
        </p:txBody>
      </p:sp>
      <p:sp>
        <p:nvSpPr>
          <p:cNvPr id="3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00BF11CD-01C3-4470-9E57-0FB81789F2D9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en-US" sz="4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2" name="PlaceHolder 3"/>
          <p:cNvSpPr>
            <a:spLocks noGrp="1"/>
          </p:cNvSpPr>
          <p:nvPr>
            <p:ph type="dt" idx="1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  <p:sp>
        <p:nvSpPr>
          <p:cNvPr id="3" name="PlaceHolder 4"/>
          <p:cNvSpPr>
            <a:spLocks noGrp="1"/>
          </p:cNvSpPr>
          <p:nvPr>
            <p:ph type="ftr" idx="2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4" name="PlaceHolder 5"/>
          <p:cNvSpPr>
            <a:spLocks noGrp="1"/>
          </p:cNvSpPr>
          <p:nvPr>
            <p:ph type="sldNum" idx="3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C6E33DBF-D0EB-4B80-AD1D-443D0B9B4F4A}" type="slidenum"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‹#›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SI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29560" y="98460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en-US" sz="4400" b="0" strike="noStrike" spc="-1">
                <a:solidFill>
                  <a:srgbClr val="000000"/>
                </a:solidFill>
                <a:latin typeface="Arial"/>
              </a:rPr>
              <a:t>Governor</a:t>
            </a:r>
          </a:p>
        </p:txBody>
      </p:sp>
      <p:sp>
        <p:nvSpPr>
          <p:cNvPr id="10" name="PlaceHolder 2"/>
          <p:cNvSpPr>
            <a:spLocks noGrp="1"/>
          </p:cNvSpPr>
          <p:nvPr>
            <p:ph type="subTitle"/>
          </p:nvPr>
        </p:nvSpPr>
        <p:spPr>
          <a:xfrm>
            <a:off x="529560" y="219816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en-US" sz="2200" b="0" strike="noStrike" spc="-1" dirty="0">
                <a:solidFill>
                  <a:srgbClr val="000000"/>
                </a:solidFill>
                <a:latin typeface="Arial"/>
              </a:rPr>
              <a:t>Adam Rakun &amp; Matteo D’Urso</a:t>
            </a:r>
          </a:p>
          <a:p>
            <a:pPr indent="0" algn="ctr">
              <a:buNone/>
            </a:pPr>
            <a:endParaRPr lang="en-US" sz="1800" b="0" strike="noStrike" spc="-1" dirty="0">
              <a:solidFill>
                <a:srgbClr val="000000"/>
              </a:solidFill>
              <a:latin typeface="Arial"/>
            </a:endParaRPr>
          </a:p>
          <a:p>
            <a:pPr indent="0" algn="ctr">
              <a:buNone/>
            </a:pPr>
            <a:endParaRPr lang="en-US" sz="1800" b="0" strike="noStrike" spc="-1" dirty="0">
              <a:solidFill>
                <a:srgbClr val="000000"/>
              </a:solidFill>
              <a:latin typeface="Arial"/>
            </a:endParaRPr>
          </a:p>
          <a:p>
            <a:pPr indent="0" algn="ctr">
              <a:buNone/>
            </a:pPr>
            <a:r>
              <a:rPr lang="en-US" sz="1800" b="0" strike="noStrike" spc="-1" dirty="0">
                <a:solidFill>
                  <a:srgbClr val="000000"/>
                </a:solidFill>
                <a:latin typeface="Arial"/>
              </a:rPr>
              <a:t>Embedded Systems (5063EMSY6Y)</a:t>
            </a:r>
          </a:p>
          <a:p>
            <a:pPr indent="0" algn="ctr">
              <a:buNone/>
            </a:pPr>
            <a:r>
              <a:rPr lang="en-US" sz="1800" b="0" strike="noStrike" spc="-1" dirty="0">
                <a:solidFill>
                  <a:srgbClr val="000000"/>
                </a:solidFill>
                <a:latin typeface="Arial"/>
              </a:rPr>
              <a:t>A. Pathania, H. Xu</a:t>
            </a:r>
          </a:p>
        </p:txBody>
      </p:sp>
      <p:pic>
        <p:nvPicPr>
          <p:cNvPr id="11" name="Picture 10"/>
          <p:cNvPicPr/>
          <p:nvPr/>
        </p:nvPicPr>
        <p:blipFill>
          <a:blip r:embed="rId2"/>
          <a:srcRect t="7261"/>
          <a:stretch/>
        </p:blipFill>
        <p:spPr>
          <a:xfrm>
            <a:off x="0" y="1715040"/>
            <a:ext cx="10079640" cy="569160"/>
          </a:xfrm>
          <a:prstGeom prst="rect">
            <a:avLst/>
          </a:prstGeom>
          <a:ln w="0">
            <a:noFill/>
          </a:ln>
        </p:spPr>
      </p:pic>
      <p:pic>
        <p:nvPicPr>
          <p:cNvPr id="12" name="Picture 11"/>
          <p:cNvPicPr/>
          <p:nvPr/>
        </p:nvPicPr>
        <p:blipFill>
          <a:blip r:embed="rId3"/>
          <a:stretch/>
        </p:blipFill>
        <p:spPr>
          <a:xfrm>
            <a:off x="1600200" y="313200"/>
            <a:ext cx="6701040" cy="90792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en-US" sz="4400" b="0" strike="noStrike" spc="-1">
                <a:solidFill>
                  <a:srgbClr val="000000"/>
                </a:solidFill>
                <a:latin typeface="Arial"/>
              </a:rPr>
              <a:t>Overall structure</a:t>
            </a: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54152" y="1191154"/>
            <a:ext cx="9071640" cy="425331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strike="noStrike" spc="-1" dirty="0">
                <a:solidFill>
                  <a:srgbClr val="000000"/>
                </a:solidFill>
                <a:latin typeface="Arial"/>
              </a:rPr>
              <a:t>Design-Time component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strike="noStrike" spc="-1" dirty="0">
                <a:solidFill>
                  <a:srgbClr val="000000"/>
                </a:solidFill>
                <a:latin typeface="Arial"/>
              </a:rPr>
              <a:t>Look-Up table for a fixed component order and partition points.</a:t>
            </a: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strike="noStrike" spc="-1" dirty="0">
                <a:solidFill>
                  <a:srgbClr val="000000"/>
                </a:solidFill>
                <a:latin typeface="Arial"/>
              </a:rPr>
              <a:t>Run-Time component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strike="noStrike" spc="-1" dirty="0">
                <a:solidFill>
                  <a:srgbClr val="000000"/>
                </a:solidFill>
                <a:latin typeface="Arial"/>
              </a:rPr>
              <a:t>MIMO PID controllers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strike="noStrike" spc="-1" dirty="0">
                <a:solidFill>
                  <a:srgbClr val="000000"/>
                </a:solidFill>
                <a:latin typeface="Arial"/>
              </a:rPr>
              <a:t>DVFS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strike="noStrike" spc="-1" dirty="0">
                <a:solidFill>
                  <a:srgbClr val="000000"/>
                </a:solidFill>
                <a:latin typeface="Arial"/>
              </a:rPr>
              <a:t>Partition points</a:t>
            </a:r>
          </a:p>
          <a:p>
            <a:pPr marL="450900" indent="-342900">
              <a:spcBef>
                <a:spcPts val="1417"/>
              </a:spcBef>
              <a:buClr>
                <a:srgbClr val="000000"/>
              </a:buClr>
              <a:buSzPct val="45000"/>
              <a:buFont typeface="Arial" panose="020B0604020202020204" pitchFamily="34" charset="0"/>
              <a:buChar char="•"/>
            </a:pPr>
            <a:r>
              <a:rPr lang="en-US" sz="2400" spc="-1" dirty="0">
                <a:solidFill>
                  <a:srgbClr val="000000"/>
                </a:solidFill>
              </a:rPr>
              <a:t>Power estimation Model</a:t>
            </a: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en-US" sz="2400" b="0" strike="noStrike" spc="-1" dirty="0">
              <a:solidFill>
                <a:srgbClr val="000000"/>
              </a:solidFill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en-US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en-US" sz="4400" b="0" strike="noStrike" spc="-1">
                <a:solidFill>
                  <a:srgbClr val="000000"/>
                </a:solidFill>
                <a:latin typeface="Arial"/>
              </a:rPr>
              <a:t>Design-Time: Look-Up table</a:t>
            </a:r>
          </a:p>
        </p:txBody>
      </p:sp>
      <p:sp>
        <p:nvSpPr>
          <p:cNvPr id="18" name="PlaceHolder 2"/>
          <p:cNvSpPr>
            <a:spLocks noGrp="1"/>
          </p:cNvSpPr>
          <p:nvPr>
            <p:ph/>
          </p:nvPr>
        </p:nvSpPr>
        <p:spPr>
          <a:xfrm>
            <a:off x="3732180" y="1448982"/>
            <a:ext cx="6125400" cy="342019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strike="noStrike" spc="-1" dirty="0">
                <a:solidFill>
                  <a:srgbClr val="000000"/>
                </a:solidFill>
                <a:latin typeface="Arial"/>
              </a:rPr>
              <a:t>Matrix that contains all (TP, Latency) pairs of a </a:t>
            </a:r>
            <a:r>
              <a:rPr lang="en-US" sz="2400" b="1" strike="noStrike" spc="-1" dirty="0">
                <a:solidFill>
                  <a:srgbClr val="000000"/>
                </a:solidFill>
                <a:latin typeface="Arial"/>
              </a:rPr>
              <a:t>G-B-L, 4-6 </a:t>
            </a:r>
            <a:r>
              <a:rPr lang="en-US" sz="2400" b="0" strike="noStrike" spc="-1" dirty="0">
                <a:solidFill>
                  <a:srgbClr val="000000"/>
                </a:solidFill>
                <a:latin typeface="Arial"/>
              </a:rPr>
              <a:t>pipeline.</a:t>
            </a: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strike="noStrike" spc="-1" dirty="0">
                <a:solidFill>
                  <a:srgbClr val="000000"/>
                </a:solidFill>
                <a:latin typeface="Arial"/>
              </a:rPr>
              <a:t>All entries compared against target TP and Latency → choose frequency configuration with lowest error.</a:t>
            </a: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strike="noStrike" spc="-1" dirty="0">
                <a:solidFill>
                  <a:srgbClr val="000000"/>
                </a:solidFill>
                <a:latin typeface="Arial"/>
              </a:rPr>
              <a:t>Assumption: given that this is overall an efficient pipeline, the optimal solution will be close to this solution.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A3C8685-4201-9B43-5965-AC1449C56C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880" y="1172520"/>
            <a:ext cx="2909760" cy="217077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BE9434B-798B-E812-4DAF-AFEE55CC9C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880" y="3439047"/>
            <a:ext cx="2909760" cy="211796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en-US" sz="4400" b="0" strike="noStrike" spc="-1">
                <a:solidFill>
                  <a:srgbClr val="000000"/>
                </a:solidFill>
                <a:latin typeface="Arial"/>
              </a:rPr>
              <a:t>Run-Time: MIMO PID-Controller</a:t>
            </a: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10000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strike="noStrike" spc="-1" dirty="0">
                <a:solidFill>
                  <a:srgbClr val="000000"/>
                </a:solidFill>
                <a:latin typeface="Arial"/>
              </a:rPr>
              <a:t>MIMO PID → 2 nested PIDs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strike="noStrike" spc="-1" dirty="0">
                <a:solidFill>
                  <a:srgbClr val="000000"/>
                </a:solidFill>
                <a:latin typeface="Arial"/>
              </a:rPr>
              <a:t>Partition points → Latency, TP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strike="noStrike" spc="-1" dirty="0">
                <a:solidFill>
                  <a:srgbClr val="000000"/>
                </a:solidFill>
                <a:latin typeface="Arial"/>
              </a:rPr>
              <a:t>DVFS → Latency, TP</a:t>
            </a:r>
          </a:p>
          <a:p>
            <a:pPr marL="432000" indent="-32400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strike="noStrike" spc="-1" dirty="0">
                <a:solidFill>
                  <a:srgbClr val="000000"/>
                </a:solidFill>
                <a:latin typeface="Arial"/>
              </a:rPr>
              <a:t>constrained optimization problem: </a:t>
            </a:r>
            <a:r>
              <a:rPr lang="en-US" sz="2400" b="1" strike="noStrike" spc="-1" dirty="0">
                <a:solidFill>
                  <a:srgbClr val="000000"/>
                </a:solidFill>
                <a:latin typeface="Arial"/>
              </a:rPr>
              <a:t>minimize power consumption</a:t>
            </a:r>
            <a:r>
              <a:rPr lang="en-US" sz="2400" b="0" strike="noStrike" spc="-1" dirty="0">
                <a:solidFill>
                  <a:srgbClr val="000000"/>
                </a:solidFill>
                <a:latin typeface="Arial"/>
              </a:rPr>
              <a:t> while </a:t>
            </a:r>
            <a:r>
              <a:rPr lang="en-US" sz="2400" b="1" strike="noStrike" spc="-1" dirty="0">
                <a:solidFill>
                  <a:srgbClr val="000000"/>
                </a:solidFill>
                <a:latin typeface="Arial"/>
              </a:rPr>
              <a:t>meeting TP and latency targets</a:t>
            </a:r>
            <a:endParaRPr lang="en-US" sz="2400" b="0" strike="noStrike" spc="-1" dirty="0">
              <a:solidFill>
                <a:srgbClr val="000000"/>
              </a:solidFill>
              <a:latin typeface="Arial"/>
            </a:endParaRPr>
          </a:p>
          <a:p>
            <a:pPr marL="432000" indent="-32400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1" strike="noStrike" spc="-1" dirty="0">
                <a:solidFill>
                  <a:srgbClr val="000000"/>
                </a:solidFill>
                <a:latin typeface="Arial"/>
              </a:rPr>
              <a:t>Model-free </a:t>
            </a:r>
            <a:r>
              <a:rPr lang="en-US" sz="2400" b="0" strike="noStrike" spc="-1" dirty="0">
                <a:solidFill>
                  <a:srgbClr val="000000"/>
                </a:solidFill>
                <a:latin typeface="Arial"/>
              </a:rPr>
              <a:t>variation: because few data → bad model</a:t>
            </a:r>
          </a:p>
          <a:p>
            <a:pPr marL="432000" indent="-32400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strike="noStrike" spc="-1" dirty="0">
                <a:solidFill>
                  <a:srgbClr val="000000"/>
                </a:solidFill>
                <a:latin typeface="Arial"/>
              </a:rPr>
              <a:t>Heavily relies on power estimation model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412560" y="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en-US" sz="4400" b="0" strike="noStrike" spc="-1" dirty="0">
                <a:solidFill>
                  <a:srgbClr val="000000"/>
                </a:solidFill>
                <a:latin typeface="Arial"/>
              </a:rPr>
              <a:t>PID 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36280C-CA59-9431-AE44-ADEEA4A18FCA}"/>
              </a:ext>
            </a:extLst>
          </p:cNvPr>
          <p:cNvSpPr>
            <a:spLocks noGrp="1" noChangeArrowheads="1"/>
          </p:cNvSpPr>
          <p:nvPr>
            <p:ph/>
          </p:nvPr>
        </p:nvSpPr>
        <p:spPr bwMode="auto">
          <a:xfrm>
            <a:off x="495300" y="776903"/>
            <a:ext cx="8299260" cy="489364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SI" altLang="en-SI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Inputs per iteration</a:t>
            </a:r>
            <a:endParaRPr kumimoji="0" lang="en-SI" altLang="en-SI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SI" sz="1400" dirty="0">
                <a:latin typeface="Arial" panose="020B0604020202020204" pitchFamily="34" charset="0"/>
              </a:rPr>
              <a:t>	- </a:t>
            </a:r>
            <a:r>
              <a:rPr kumimoji="0" lang="en-SI" altLang="en-SI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Targets: </a:t>
            </a:r>
            <a:r>
              <a:rPr kumimoji="0" lang="en-SI" altLang="en-SI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target_fps</a:t>
            </a:r>
            <a:r>
              <a:rPr kumimoji="0" lang="en-SI" altLang="en-SI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en-SI" altLang="en-SI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target_latency</a:t>
            </a:r>
            <a:endParaRPr kumimoji="0" lang="en-SI" altLang="en-SI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SI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	- </a:t>
            </a:r>
            <a:r>
              <a:rPr kumimoji="0" lang="en-SI" altLang="en-SI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Measurements: </a:t>
            </a:r>
            <a:r>
              <a:rPr kumimoji="0" lang="en-SI" altLang="en-SI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fps</a:t>
            </a:r>
            <a:r>
              <a:rPr kumimoji="0" lang="en-SI" altLang="en-SI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en-SI" altLang="en-SI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latency</a:t>
            </a:r>
            <a:r>
              <a:rPr kumimoji="0" lang="en-SI" altLang="en-SI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stage times </a:t>
            </a:r>
            <a:r>
              <a:rPr kumimoji="0" lang="en-SI" altLang="en-SI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T1/T2/T3</a:t>
            </a:r>
            <a:endParaRPr kumimoji="0" lang="en-US" altLang="en-SI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Unicode M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SI" altLang="en-SI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SI" altLang="en-SI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Normalized error signals</a:t>
            </a:r>
            <a:endParaRPr kumimoji="0" lang="en-SI" altLang="en-SI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SI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	- </a:t>
            </a:r>
            <a:r>
              <a:rPr kumimoji="0" lang="en-SI" altLang="en-SI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fps_error</a:t>
            </a:r>
            <a:r>
              <a:rPr kumimoji="0" lang="en-SI" altLang="en-SI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= (</a:t>
            </a:r>
            <a:r>
              <a:rPr kumimoji="0" lang="en-SI" altLang="en-SI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target_fps</a:t>
            </a:r>
            <a:r>
              <a:rPr kumimoji="0" lang="en-SI" altLang="en-SI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− fps) / </a:t>
            </a:r>
            <a:r>
              <a:rPr kumimoji="0" lang="en-SI" altLang="en-SI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target_fps</a:t>
            </a:r>
            <a:endParaRPr kumimoji="0" lang="en-SI" altLang="en-SI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SI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	- </a:t>
            </a:r>
            <a:r>
              <a:rPr kumimoji="0" lang="en-SI" altLang="en-SI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lat_error</a:t>
            </a:r>
            <a:r>
              <a:rPr kumimoji="0" lang="en-SI" altLang="en-SI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= (latency − </a:t>
            </a:r>
            <a:r>
              <a:rPr kumimoji="0" lang="en-SI" altLang="en-SI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target_latency</a:t>
            </a:r>
            <a:r>
              <a:rPr kumimoji="0" lang="en-SI" altLang="en-SI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) / </a:t>
            </a:r>
            <a:r>
              <a:rPr kumimoji="0" lang="en-SI" altLang="en-SI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target_latency</a:t>
            </a:r>
            <a:endParaRPr kumimoji="0" lang="en-US" altLang="en-SI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Unicode M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SI" altLang="en-SI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SI" altLang="en-SI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Decision layer</a:t>
            </a:r>
            <a:endParaRPr kumimoji="0" lang="en-SI" altLang="en-SI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SI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	- </a:t>
            </a:r>
            <a:r>
              <a:rPr kumimoji="0" lang="en-SI" altLang="en-SI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If any constraint violated → </a:t>
            </a:r>
            <a:r>
              <a:rPr kumimoji="0" lang="en-SI" altLang="en-SI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Feasibility mode</a:t>
            </a:r>
            <a:endParaRPr kumimoji="0" lang="en-SI" altLang="en-SI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457200" lvl="8" algn="l" rt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SI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		&gt; </a:t>
            </a:r>
            <a:r>
              <a:rPr kumimoji="0" lang="en-SI" altLang="en-SI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Run PID update for violated metric</a:t>
            </a:r>
            <a:r>
              <a:rPr kumimoji="0" lang="en-US" altLang="en-SI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</a:t>
            </a:r>
            <a:endParaRPr kumimoji="0" lang="en-SI" altLang="en-SI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457200" lvl="3" algn="l" rt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SI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		&gt; </a:t>
            </a:r>
            <a:r>
              <a:rPr kumimoji="0" lang="en-SI" altLang="en-SI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Apply </a:t>
            </a:r>
            <a:r>
              <a:rPr kumimoji="0" lang="en-SI" altLang="en-SI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frequency adjustment</a:t>
            </a:r>
            <a:r>
              <a:rPr kumimoji="0" lang="en-SI" altLang="en-SI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(clamped to valid DVFS steps)</a:t>
            </a:r>
          </a:p>
          <a:p>
            <a:pPr marL="457200" lvl="3" algn="l" rt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SI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		&gt; </a:t>
            </a:r>
            <a:r>
              <a:rPr kumimoji="0" lang="en-SI" altLang="en-SI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If frequencies saturated / unstable → </a:t>
            </a:r>
            <a:r>
              <a:rPr kumimoji="0" lang="en-SI" altLang="en-SI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adjust partitions</a:t>
            </a:r>
            <a:r>
              <a:rPr kumimoji="0" lang="en-SI" altLang="en-SI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using bottleneck stage</a:t>
            </a:r>
            <a:endParaRPr kumimoji="0" lang="en-US" altLang="en-SI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457200" lvl="3" algn="l" rtl="0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SI" altLang="en-SI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SI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	- </a:t>
            </a:r>
            <a:r>
              <a:rPr kumimoji="0" lang="en-SI" altLang="en-SI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If both constraints met → </a:t>
            </a:r>
            <a:r>
              <a:rPr kumimoji="0" lang="en-SI" altLang="en-SI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Power-reduce mode</a:t>
            </a:r>
            <a:endParaRPr kumimoji="0" lang="en-SI" altLang="en-SI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SI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		&gt; </a:t>
            </a:r>
            <a:r>
              <a:rPr kumimoji="0" lang="en-SI" altLang="en-SI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Compute margins (FPS slack, latency slack)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SI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		&gt; </a:t>
            </a:r>
            <a:r>
              <a:rPr kumimoji="0" lang="en-SI" altLang="en-SI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Reduce power with small steps (DVFS first, then partitions if safe)</a:t>
            </a:r>
            <a:endParaRPr kumimoji="0" lang="en-US" altLang="en-SI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SI" altLang="en-SI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SI" altLang="en-SI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Bottleneck-aware partitioning</a:t>
            </a:r>
            <a:endParaRPr kumimoji="0" lang="en-SI" altLang="en-SI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SI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	- </a:t>
            </a:r>
            <a:r>
              <a:rPr kumimoji="0" lang="en-SI" altLang="en-SI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Throughput dominated by </a:t>
            </a:r>
            <a:r>
              <a:rPr kumimoji="0" lang="en-SI" altLang="en-SI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max(T1, T2, T3)</a:t>
            </a:r>
            <a:endParaRPr kumimoji="0" lang="en-SI" altLang="en-SI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SI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	- </a:t>
            </a:r>
            <a:r>
              <a:rPr kumimoji="0" lang="en-SI" altLang="en-SI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Shift work away from bottleneck component (avoid 1-layer stages)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SI" altLang="en-SI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EB8B955-DFF1-3A2F-E283-7BA5205C73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46147" y="1395398"/>
            <a:ext cx="10694838" cy="319184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en-US" sz="4400" b="0" strike="noStrike" spc="-1" dirty="0">
                <a:solidFill>
                  <a:srgbClr val="000000"/>
                </a:solidFill>
                <a:latin typeface="Arial"/>
              </a:rPr>
              <a:t>Power Estimation Model</a:t>
            </a: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70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1633" lnSpcReduction="20000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strike="noStrike" spc="-1" dirty="0">
                <a:solidFill>
                  <a:srgbClr val="000000"/>
                </a:solidFill>
                <a:latin typeface="Arial"/>
              </a:rPr>
              <a:t>Simple rule derived from measurements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strike="noStrike" spc="-1" dirty="0">
                <a:solidFill>
                  <a:srgbClr val="000000"/>
                </a:solidFill>
                <a:latin typeface="Arial"/>
              </a:rPr>
              <a:t>Calculate a workload fraction for a specific component: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 dirty="0" err="1">
                <a:solidFill>
                  <a:srgbClr val="000000"/>
                </a:solidFill>
                <a:latin typeface="Consolas"/>
              </a:rPr>
              <a:t>weighted_frac</a:t>
            </a:r>
            <a:r>
              <a:rPr lang="en-US" sz="1600" b="0" strike="noStrike" spc="-1" dirty="0">
                <a:solidFill>
                  <a:srgbClr val="000000"/>
                </a:solidFill>
                <a:latin typeface="Consolas"/>
              </a:rPr>
              <a:t> = </a:t>
            </a:r>
            <a:r>
              <a:rPr lang="en-US" sz="1600" b="0" strike="noStrike" spc="-1" dirty="0" err="1">
                <a:solidFill>
                  <a:srgbClr val="000000"/>
                </a:solidFill>
                <a:latin typeface="Consolas"/>
              </a:rPr>
              <a:t>frac_layers</a:t>
            </a:r>
            <a:r>
              <a:rPr lang="en-US" sz="1600" b="0" strike="noStrike" spc="-1" dirty="0">
                <a:solidFill>
                  <a:srgbClr val="000000"/>
                </a:solidFill>
                <a:latin typeface="Consolas"/>
              </a:rPr>
              <a:t> * </a:t>
            </a:r>
            <a:r>
              <a:rPr lang="en-US" sz="1600" b="0" strike="noStrike" spc="-1" dirty="0" err="1">
                <a:solidFill>
                  <a:srgbClr val="00A933"/>
                </a:solidFill>
                <a:latin typeface="Consolas"/>
              </a:rPr>
              <a:t>alexnet_layer_computation_load</a:t>
            </a:r>
            <a:endParaRPr lang="en-US" sz="1600" b="0" strike="noStrike" spc="-1" dirty="0">
              <a:solidFill>
                <a:srgbClr val="000000"/>
              </a:solidFill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strike="noStrike" spc="-1" dirty="0">
                <a:solidFill>
                  <a:srgbClr val="000000"/>
                </a:solidFill>
                <a:latin typeface="Arial"/>
              </a:rPr>
              <a:t>CPUs: </a:t>
            </a:r>
            <a:r>
              <a:rPr lang="en-US" sz="1600" b="0" strike="noStrike" spc="-1" dirty="0">
                <a:solidFill>
                  <a:srgbClr val="000000"/>
                </a:solidFill>
                <a:latin typeface="Consolas"/>
              </a:rPr>
              <a:t>power(</a:t>
            </a:r>
            <a:r>
              <a:rPr lang="en-US" sz="1600" b="0" strike="noStrike" spc="-1" dirty="0" err="1">
                <a:solidFill>
                  <a:srgbClr val="000000"/>
                </a:solidFill>
                <a:latin typeface="Consolas"/>
              </a:rPr>
              <a:t>cpu</a:t>
            </a:r>
            <a:r>
              <a:rPr lang="en-US" sz="1600" b="0" strike="noStrike" spc="-1" dirty="0">
                <a:solidFill>
                  <a:srgbClr val="000000"/>
                </a:solidFill>
                <a:latin typeface="Consolas"/>
              </a:rPr>
              <a:t>) = </a:t>
            </a:r>
            <a:r>
              <a:rPr lang="en-US" sz="1600" b="0" strike="noStrike" spc="-1" dirty="0" err="1">
                <a:solidFill>
                  <a:srgbClr val="000000"/>
                </a:solidFill>
                <a:latin typeface="Consolas"/>
              </a:rPr>
              <a:t>weighted_frac</a:t>
            </a:r>
            <a:r>
              <a:rPr lang="en-US" sz="1600" b="0" strike="noStrike" spc="-1" dirty="0">
                <a:solidFill>
                  <a:srgbClr val="000000"/>
                </a:solidFill>
                <a:latin typeface="Consolas"/>
              </a:rPr>
              <a:t>(</a:t>
            </a:r>
            <a:r>
              <a:rPr lang="en-US" sz="1600" b="0" strike="noStrike" spc="-1" dirty="0" err="1">
                <a:solidFill>
                  <a:srgbClr val="000000"/>
                </a:solidFill>
                <a:latin typeface="Consolas"/>
              </a:rPr>
              <a:t>cpu</a:t>
            </a:r>
            <a:r>
              <a:rPr lang="en-US" sz="1600" b="0" strike="noStrike" spc="-1" dirty="0">
                <a:solidFill>
                  <a:srgbClr val="000000"/>
                </a:solidFill>
                <a:latin typeface="Consolas"/>
              </a:rPr>
              <a:t>) * </a:t>
            </a:r>
            <a:r>
              <a:rPr lang="en-US" sz="1600" b="0" strike="noStrike" spc="-1" dirty="0" err="1">
                <a:solidFill>
                  <a:srgbClr val="C9211E"/>
                </a:solidFill>
                <a:latin typeface="Consolas"/>
              </a:rPr>
              <a:t>fx_power</a:t>
            </a:r>
            <a:r>
              <a:rPr lang="en-US" sz="1600" b="0" strike="noStrike" spc="-1" dirty="0">
                <a:solidFill>
                  <a:srgbClr val="C9211E"/>
                </a:solidFill>
                <a:latin typeface="Consolas"/>
              </a:rPr>
              <a:t>(</a:t>
            </a:r>
            <a:r>
              <a:rPr lang="en-US" sz="1600" b="0" strike="noStrike" spc="-1" dirty="0" err="1">
                <a:solidFill>
                  <a:srgbClr val="C9211E"/>
                </a:solidFill>
                <a:latin typeface="Consolas"/>
              </a:rPr>
              <a:t>cpu</a:t>
            </a:r>
            <a:r>
              <a:rPr lang="en-US" sz="1600" b="0" strike="noStrike" spc="-1" dirty="0">
                <a:solidFill>
                  <a:srgbClr val="C9211E"/>
                </a:solidFill>
                <a:latin typeface="Consolas"/>
              </a:rPr>
              <a:t>)</a:t>
            </a:r>
            <a:endParaRPr lang="en-US" sz="1600" b="0" strike="noStrike" spc="-1" dirty="0">
              <a:solidFill>
                <a:srgbClr val="000000"/>
              </a:solidFill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strike="noStrike" spc="-1" dirty="0">
                <a:solidFill>
                  <a:srgbClr val="000000"/>
                </a:solidFill>
                <a:latin typeface="Arial"/>
              </a:rPr>
              <a:t>GPUs:</a:t>
            </a:r>
            <a:r>
              <a:rPr lang="en-US" sz="2400" b="0" strike="noStrike" spc="-1" dirty="0">
                <a:solidFill>
                  <a:srgbClr val="000000"/>
                </a:solidFill>
                <a:latin typeface="Consolas"/>
              </a:rPr>
              <a:t> </a:t>
            </a:r>
            <a:r>
              <a:rPr lang="en-US" sz="1600" b="0" strike="noStrike" spc="-1" dirty="0">
                <a:solidFill>
                  <a:srgbClr val="000000"/>
                </a:solidFill>
                <a:latin typeface="Consolas"/>
              </a:rPr>
              <a:t>power(</a:t>
            </a:r>
            <a:r>
              <a:rPr lang="en-US" sz="1600" b="0" strike="noStrike" spc="-1" dirty="0" err="1">
                <a:solidFill>
                  <a:srgbClr val="000000"/>
                </a:solidFill>
                <a:latin typeface="Consolas"/>
              </a:rPr>
              <a:t>gpu</a:t>
            </a:r>
            <a:r>
              <a:rPr lang="en-US" sz="1600" b="0" strike="noStrike" spc="-1" dirty="0">
                <a:solidFill>
                  <a:srgbClr val="000000"/>
                </a:solidFill>
                <a:latin typeface="Consolas"/>
              </a:rPr>
              <a:t>) = </a:t>
            </a:r>
            <a:r>
              <a:rPr lang="en-US" sz="1600" b="0" strike="noStrike" spc="-1" dirty="0" err="1">
                <a:solidFill>
                  <a:srgbClr val="000000"/>
                </a:solidFill>
                <a:latin typeface="Consolas"/>
              </a:rPr>
              <a:t>weighted_frac</a:t>
            </a:r>
            <a:r>
              <a:rPr lang="en-US" sz="1600" b="0" strike="noStrike" spc="-1" dirty="0">
                <a:solidFill>
                  <a:srgbClr val="000000"/>
                </a:solidFill>
                <a:latin typeface="Consolas"/>
              </a:rPr>
              <a:t>(</a:t>
            </a:r>
            <a:r>
              <a:rPr lang="en-US" sz="1600" b="0" strike="noStrike" spc="-1" dirty="0" err="1">
                <a:solidFill>
                  <a:srgbClr val="000000"/>
                </a:solidFill>
                <a:latin typeface="Consolas"/>
              </a:rPr>
              <a:t>gpu</a:t>
            </a:r>
            <a:r>
              <a:rPr lang="en-US" sz="1600" b="0" strike="noStrike" spc="-1" dirty="0">
                <a:solidFill>
                  <a:srgbClr val="000000"/>
                </a:solidFill>
                <a:latin typeface="Consolas"/>
              </a:rPr>
              <a:t>) * </a:t>
            </a:r>
            <a:r>
              <a:rPr lang="en-US" sz="1600" b="0" strike="noStrike" spc="-1" dirty="0">
                <a:solidFill>
                  <a:srgbClr val="C9211E"/>
                </a:solidFill>
                <a:latin typeface="Consolas"/>
              </a:rPr>
              <a:t>POWER_GPU</a:t>
            </a:r>
            <a:endParaRPr lang="en-US" sz="1600" b="0" strike="noStrike" spc="-1" dirty="0">
              <a:solidFill>
                <a:srgbClr val="000000"/>
              </a:solidFill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strike="noStrike" spc="-1" dirty="0">
                <a:solidFill>
                  <a:srgbClr val="000000"/>
                </a:solidFill>
                <a:latin typeface="Arial"/>
              </a:rPr>
              <a:t>Overhead: 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 dirty="0">
                <a:solidFill>
                  <a:srgbClr val="000000"/>
                </a:solidFill>
                <a:latin typeface="Consolas"/>
              </a:rPr>
              <a:t>(</a:t>
            </a:r>
            <a:r>
              <a:rPr lang="en-US" sz="1600" b="0" strike="noStrike" spc="-1" dirty="0" err="1">
                <a:solidFill>
                  <a:srgbClr val="000000"/>
                </a:solidFill>
                <a:latin typeface="Consolas"/>
              </a:rPr>
              <a:t>big_cpu_freq</a:t>
            </a:r>
            <a:r>
              <a:rPr lang="en-US" sz="1600" b="0" strike="noStrike" spc="-1" dirty="0">
                <a:solidFill>
                  <a:srgbClr val="000000"/>
                </a:solidFill>
                <a:latin typeface="Consolas"/>
              </a:rPr>
              <a:t> * </a:t>
            </a:r>
            <a:r>
              <a:rPr lang="en-US" sz="1600" b="0" strike="noStrike" spc="-1" dirty="0" err="1">
                <a:solidFill>
                  <a:srgbClr val="C9211E"/>
                </a:solidFill>
                <a:latin typeface="Consolas"/>
              </a:rPr>
              <a:t>big_cpu_overhead</a:t>
            </a:r>
            <a:r>
              <a:rPr lang="en-US" sz="1600" b="0" strike="noStrike" spc="-1" dirty="0">
                <a:solidFill>
                  <a:srgbClr val="000000"/>
                </a:solidFill>
                <a:latin typeface="Consolas"/>
              </a:rPr>
              <a:t> + </a:t>
            </a:r>
            <a:endParaRPr lang="en-US" sz="1600" b="0" strike="noStrike" spc="-1" dirty="0">
              <a:solidFill>
                <a:srgbClr val="000000"/>
              </a:solidFill>
              <a:latin typeface="Arial"/>
            </a:endParaRPr>
          </a:p>
          <a:p>
            <a:pPr marL="1296000" lvl="2" indent="0">
              <a:spcBef>
                <a:spcPts val="850"/>
              </a:spcBef>
              <a:buNone/>
            </a:pPr>
            <a:r>
              <a:rPr lang="en-US" sz="1600" b="0" strike="noStrike" spc="-1" dirty="0" err="1">
                <a:solidFill>
                  <a:srgbClr val="000000"/>
                </a:solidFill>
                <a:latin typeface="Consolas"/>
              </a:rPr>
              <a:t>little_cpu_freq</a:t>
            </a:r>
            <a:r>
              <a:rPr lang="en-US" sz="1600" b="0" strike="noStrike" spc="-1" dirty="0">
                <a:solidFill>
                  <a:srgbClr val="000000"/>
                </a:solidFill>
                <a:latin typeface="Consolas"/>
              </a:rPr>
              <a:t> * </a:t>
            </a:r>
            <a:r>
              <a:rPr lang="en-US" sz="1600" b="0" strike="noStrike" spc="-1" dirty="0" err="1">
                <a:solidFill>
                  <a:srgbClr val="C9211E"/>
                </a:solidFill>
                <a:latin typeface="Consolas"/>
              </a:rPr>
              <a:t>little_cpu_overhead</a:t>
            </a:r>
            <a:r>
              <a:rPr lang="en-US" sz="1600" b="0" strike="noStrike" spc="-1" dirty="0">
                <a:solidFill>
                  <a:srgbClr val="000000"/>
                </a:solidFill>
                <a:latin typeface="Consolas"/>
              </a:rPr>
              <a:t>) * </a:t>
            </a:r>
            <a:r>
              <a:rPr lang="en-US" sz="1600" b="0" strike="noStrike" spc="-1" dirty="0" err="1">
                <a:solidFill>
                  <a:srgbClr val="C9211E"/>
                </a:solidFill>
                <a:latin typeface="Consolas"/>
              </a:rPr>
              <a:t>scale_</a:t>
            </a:r>
            <a:r>
              <a:rPr lang="en-US" sz="1600" b="0" strike="noStrike" spc="-1" dirty="0" err="1">
                <a:solidFill>
                  <a:srgbClr val="00A933"/>
                </a:solidFill>
                <a:latin typeface="Consolas"/>
              </a:rPr>
              <a:t>factor</a:t>
            </a:r>
            <a:endParaRPr lang="en-US" sz="1600" b="0" strike="noStrike" spc="-1" dirty="0">
              <a:solidFill>
                <a:srgbClr val="000000"/>
              </a:solidFill>
              <a:latin typeface="Arial"/>
            </a:endParaRPr>
          </a:p>
          <a:p>
            <a:pPr marL="432000" indent="0">
              <a:spcBef>
                <a:spcPts val="1417"/>
              </a:spcBef>
              <a:buNone/>
            </a:pPr>
            <a:endParaRPr lang="en-US" sz="1600" b="0" strike="noStrike" spc="-1" dirty="0">
              <a:solidFill>
                <a:srgbClr val="000000"/>
              </a:solidFill>
              <a:latin typeface="Arial"/>
            </a:endParaRPr>
          </a:p>
          <a:p>
            <a:pPr marL="432000" indent="0">
              <a:spcBef>
                <a:spcPts val="1417"/>
              </a:spcBef>
              <a:buNone/>
            </a:pPr>
            <a:r>
              <a:rPr lang="en-US" sz="2000" b="0" strike="noStrike" spc="-1" dirty="0">
                <a:solidFill>
                  <a:srgbClr val="C9211E"/>
                </a:solidFill>
                <a:latin typeface="Arial"/>
              </a:rPr>
              <a:t>*: found by experiments	</a:t>
            </a:r>
            <a:r>
              <a:rPr lang="en-US" sz="2000" b="0" strike="noStrike" spc="-1" dirty="0">
                <a:solidFill>
                  <a:srgbClr val="00A933"/>
                </a:solidFill>
                <a:latin typeface="Arial"/>
              </a:rPr>
              <a:t>	*: found by trial and error</a:t>
            </a:r>
            <a:endParaRPr lang="en-US" sz="20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348BDD-2EF3-89AE-8A5F-273160FE8D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SI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4F22A40-B635-9381-28AC-CACF12F3F3AA}"/>
              </a:ext>
            </a:extLst>
          </p:cNvPr>
          <p:cNvSpPr>
            <a:spLocks noGrp="1"/>
          </p:cNvSpPr>
          <p:nvPr>
            <p:ph type="subTitle"/>
          </p:nvPr>
        </p:nvSpPr>
        <p:spPr/>
        <p:txBody>
          <a:bodyPr/>
          <a:lstStyle/>
          <a:p>
            <a:endParaRPr lang="en-SI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8232BF4-BECE-2F13-E651-E9467ADC0F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681" y="126481"/>
            <a:ext cx="6102540" cy="305435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A8AB9F9-287C-0196-5B02-B4F6748B65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5360" y="3198550"/>
            <a:ext cx="4686300" cy="2345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94801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410</TotalTime>
  <Words>445</Words>
  <Application>Microsoft Office PowerPoint</Application>
  <PresentationFormat>Custom</PresentationFormat>
  <Paragraphs>58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Arial</vt:lpstr>
      <vt:lpstr>Arial Unicode MS</vt:lpstr>
      <vt:lpstr>Consolas</vt:lpstr>
      <vt:lpstr>Symbol</vt:lpstr>
      <vt:lpstr>Times New Roman</vt:lpstr>
      <vt:lpstr>Wingdings</vt:lpstr>
      <vt:lpstr>Office</vt:lpstr>
      <vt:lpstr>Governor</vt:lpstr>
      <vt:lpstr>Overall structure</vt:lpstr>
      <vt:lpstr>Design-Time: Look-Up table</vt:lpstr>
      <vt:lpstr>Run-Time: MIMO PID-Controller</vt:lpstr>
      <vt:lpstr>PID Decisions</vt:lpstr>
      <vt:lpstr>PowerPoint Presentation</vt:lpstr>
      <vt:lpstr>Power Estimation Model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dc:description/>
  <cp:lastModifiedBy>Adam Rakun</cp:lastModifiedBy>
  <cp:revision>3</cp:revision>
  <dcterms:created xsi:type="dcterms:W3CDTF">2026-01-26T20:24:35Z</dcterms:created>
  <dcterms:modified xsi:type="dcterms:W3CDTF">2026-01-29T13:28:25Z</dcterms:modified>
  <dc:language>en-US</dc:language>
</cp:coreProperties>
</file>