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80625" cy="5670550"/>
  <p:notesSz cx="7559675" cy="10691813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Rakun" userId="8052db6c05b989cf" providerId="LiveId" clId="{0BF334EB-8488-46D5-99AB-7FABFFE2AE92}"/>
    <pc:docChg chg="undo custSel modSld">
      <pc:chgData name="Adam Rakun" userId="8052db6c05b989cf" providerId="LiveId" clId="{0BF334EB-8488-46D5-99AB-7FABFFE2AE92}" dt="2026-01-28T15:40:17.163" v="144" actId="20577"/>
      <pc:docMkLst>
        <pc:docMk/>
      </pc:docMkLst>
      <pc:sldChg chg="modSp mod">
        <pc:chgData name="Adam Rakun" userId="8052db6c05b989cf" providerId="LiveId" clId="{0BF334EB-8488-46D5-99AB-7FABFFE2AE92}" dt="2026-01-28T15:19:13.068" v="15" actId="27636"/>
        <pc:sldMkLst>
          <pc:docMk/>
          <pc:sldMk cId="0" sldId="257"/>
        </pc:sldMkLst>
        <pc:spChg chg="mod">
          <ac:chgData name="Adam Rakun" userId="8052db6c05b989cf" providerId="LiveId" clId="{0BF334EB-8488-46D5-99AB-7FABFFE2AE92}" dt="2026-01-28T15:19:13.068" v="15" actId="27636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dam Rakun" userId="8052db6c05b989cf" providerId="LiveId" clId="{0BF334EB-8488-46D5-99AB-7FABFFE2AE92}" dt="2026-01-28T15:19:13.073" v="16" actId="27636"/>
        <pc:sldMkLst>
          <pc:docMk/>
          <pc:sldMk cId="0" sldId="260"/>
        </pc:sldMkLst>
        <pc:spChg chg="mod">
          <ac:chgData name="Adam Rakun" userId="8052db6c05b989cf" providerId="LiveId" clId="{0BF334EB-8488-46D5-99AB-7FABFFE2AE92}" dt="2026-01-28T15:19:13.073" v="16" actId="27636"/>
          <ac:spMkLst>
            <pc:docMk/>
            <pc:sldMk cId="0" sldId="260"/>
            <ac:spMk id="20" creationId="{00000000-0000-0000-0000-000000000000}"/>
          </ac:spMkLst>
        </pc:spChg>
      </pc:sldChg>
      <pc:sldChg chg="addSp delSp modSp mod">
        <pc:chgData name="Adam Rakun" userId="8052db6c05b989cf" providerId="LiveId" clId="{0BF334EB-8488-46D5-99AB-7FABFFE2AE92}" dt="2026-01-28T15:40:17.163" v="144" actId="20577"/>
        <pc:sldMkLst>
          <pc:docMk/>
          <pc:sldMk cId="0" sldId="262"/>
        </pc:sldMkLst>
        <pc:spChg chg="add mod">
          <ac:chgData name="Adam Rakun" userId="8052db6c05b989cf" providerId="LiveId" clId="{0BF334EB-8488-46D5-99AB-7FABFFE2AE92}" dt="2026-01-28T15:19:13.049" v="14"/>
          <ac:spMkLst>
            <pc:docMk/>
            <pc:sldMk cId="0" sldId="262"/>
            <ac:spMk id="2" creationId="{75FBA287-C940-2E99-C48F-9F3E9B469729}"/>
          </ac:spMkLst>
        </pc:spChg>
        <pc:spChg chg="add mod">
          <ac:chgData name="Adam Rakun" userId="8052db6c05b989cf" providerId="LiveId" clId="{0BF334EB-8488-46D5-99AB-7FABFFE2AE92}" dt="2026-01-28T15:40:17.163" v="144" actId="20577"/>
          <ac:spMkLst>
            <pc:docMk/>
            <pc:sldMk cId="0" sldId="262"/>
            <ac:spMk id="3" creationId="{1B36280C-CA59-9431-AE44-ADEEA4A18FCA}"/>
          </ac:spMkLst>
        </pc:spChg>
        <pc:spChg chg="mod">
          <ac:chgData name="Adam Rakun" userId="8052db6c05b989cf" providerId="LiveId" clId="{0BF334EB-8488-46D5-99AB-7FABFFE2AE92}" dt="2026-01-28T15:19:49.068" v="24" actId="1076"/>
          <ac:spMkLst>
            <pc:docMk/>
            <pc:sldMk cId="0" sldId="262"/>
            <ac:spMk id="24" creationId="{00000000-0000-0000-0000-000000000000}"/>
          </ac:spMkLst>
        </pc:spChg>
        <pc:spChg chg="add del">
          <ac:chgData name="Adam Rakun" userId="8052db6c05b989cf" providerId="LiveId" clId="{0BF334EB-8488-46D5-99AB-7FABFFE2AE92}" dt="2026-01-28T15:19:15.165" v="17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Adam Rakun" userId="8052db6c05b989cf" providerId="LiveId" clId="{0BF334EB-8488-46D5-99AB-7FABFFE2AE92}" dt="2026-01-28T15:16:09.004" v="3" actId="27636"/>
        <pc:sldMkLst>
          <pc:docMk/>
          <pc:sldMk cId="0" sldId="263"/>
        </pc:sldMkLst>
        <pc:spChg chg="mod">
          <ac:chgData name="Adam Rakun" userId="8052db6c05b989cf" providerId="LiveId" clId="{0BF334EB-8488-46D5-99AB-7FABFFE2AE92}" dt="2026-01-28T15:16:09.004" v="3" actId="27636"/>
          <ac:spMkLst>
            <pc:docMk/>
            <pc:sldMk cId="0" sldId="263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1677AE-8188-4B05-A3FB-CCD03111BDD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0BF11CD-01C3-4470-9E57-0FB81789F2D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E33DBF-D0EB-4B80-AD1D-443D0B9B4F4A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9560" y="984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Governor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29560" y="21981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2200" b="0" strike="noStrike" spc="-1" dirty="0">
                <a:solidFill>
                  <a:srgbClr val="000000"/>
                </a:solidFill>
                <a:latin typeface="Arial"/>
              </a:rPr>
              <a:t>Adam Rakun &amp; Matteo D’Urso</a:t>
            </a:r>
          </a:p>
          <a:p>
            <a:pPr indent="0" algn="ctr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Embedded Systems (5063EMSY6Y)</a:t>
            </a:r>
          </a:p>
          <a:p>
            <a:pPr indent="0" algn="ctr"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A. Pathania, H. Xu</a:t>
            </a:r>
          </a:p>
        </p:txBody>
      </p:sp>
      <p:pic>
        <p:nvPicPr>
          <p:cNvPr id="11" name="Picture 10"/>
          <p:cNvPicPr/>
          <p:nvPr/>
        </p:nvPicPr>
        <p:blipFill>
          <a:blip r:embed="rId2"/>
          <a:srcRect t="7261"/>
          <a:stretch/>
        </p:blipFill>
        <p:spPr>
          <a:xfrm>
            <a:off x="0" y="1715040"/>
            <a:ext cx="10079640" cy="56916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11"/>
          <p:cNvPicPr/>
          <p:nvPr/>
        </p:nvPicPr>
        <p:blipFill>
          <a:blip r:embed="rId3"/>
          <a:stretch/>
        </p:blipFill>
        <p:spPr>
          <a:xfrm>
            <a:off x="1600200" y="313200"/>
            <a:ext cx="6701040" cy="907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Index	</a:t>
            </a: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991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Overall Structure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Design-Time: Look-Up table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Run-Time: MIMO PID-Controller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PID Controller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PID Decisions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Font typeface="OpenSymbo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Power Estimation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Overall structure</a:t>
            </a: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Design-Time component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Look-Up table for a fixed component order, and partition points.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Run-Time component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MIMO PID controllers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DVFS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Partition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Design-Time: Look-Up table</a:t>
            </a: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Matrix that contains all (TP, Latency) pairs of a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G-B-L, 4-6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pipeline.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All entries compared against target TP and Latency → choose configuration with lowest error.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Assumption: given that this is overall an efficient pipeline, the optimal solution will be close to this solution.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Run-Time: MIMO PID-Controller</a:t>
            </a: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MIMO PID → 2 nested PIDs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Partition points → Latency, TP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DVFS → Latency, TP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constrained optimization problem: 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minimize power consumption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 while 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meeting TP and latency targets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Model-free </a:t>
            </a: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variation: because few data → bad model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Heavily relies on power estimation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PID Controller</a:t>
            </a: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Picture 22"/>
          <p:cNvPicPr/>
          <p:nvPr/>
        </p:nvPicPr>
        <p:blipFill>
          <a:blip r:embed="rId2"/>
          <a:stretch/>
        </p:blipFill>
        <p:spPr>
          <a:xfrm>
            <a:off x="685800" y="1936800"/>
            <a:ext cx="8458200" cy="300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1256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Arial"/>
              </a:rPr>
              <a:t>PID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6280C-CA59-9431-AE44-ADEEA4A18FCA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95300" y="776903"/>
            <a:ext cx="829926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 per iteration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SI" sz="1400" dirty="0"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Targets: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target_fps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target_latency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Measurements: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fps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latency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stage times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T1/T2/T3</a:t>
            </a:r>
            <a:endParaRPr kumimoji="0" lang="en-US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error signals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-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fps_error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(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target_fps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− fps) /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target_fps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-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lat_error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(latency −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target_latency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/ </a:t>
            </a:r>
            <a:r>
              <a:rPr kumimoji="0" lang="en-SI" altLang="en-SI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target_latency</a:t>
            </a:r>
            <a:endParaRPr kumimoji="0" lang="en-US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layer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any constraint violated → </a:t>
            </a: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 mode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8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&gt;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PID update for violated metric</a:t>
            </a: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3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&gt;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 adjustment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(clamped to valid DVFS steps)</a:t>
            </a:r>
          </a:p>
          <a:p>
            <a:pPr marL="457200" lvl="3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&gt;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frequencies saturated / unstable → </a:t>
            </a: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partitions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bottleneck stage</a:t>
            </a:r>
            <a:endParaRPr kumimoji="0" lang="en-US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3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both constraints met → </a:t>
            </a: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Power-reduce mode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&gt;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margins (FPS slack, latency slack)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&gt;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power with small steps (DVFS first, then partitions if safe)</a:t>
            </a:r>
            <a:endParaRPr kumimoji="0" lang="en-US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I" altLang="en-SI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Bottleneck-aware partitioning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 dominated by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max(T1, T2, T3)</a:t>
            </a:r>
            <a:endParaRPr kumimoji="0" lang="en-SI" altLang="en-S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SI" altLang="en-SI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work away from bottleneck component (avoid 1-layer stages)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I" altLang="en-S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Power Estimation Model</a:t>
            </a: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70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163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Simple rule derived from measurements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Calculate a workload fraction for a specific component: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weighted_frac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frac_layers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600" b="0" strike="noStrike" spc="-1" dirty="0" err="1">
                <a:solidFill>
                  <a:srgbClr val="00A933"/>
                </a:solidFill>
                <a:latin typeface="Consolas"/>
              </a:rPr>
              <a:t>alexnet_layer_computation_load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CPUs: 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power(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cpu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) =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weighted_frac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cpu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600" b="0" strike="noStrike" spc="-1" dirty="0" err="1">
                <a:solidFill>
                  <a:srgbClr val="C9211E"/>
                </a:solidFill>
                <a:latin typeface="Consolas"/>
              </a:rPr>
              <a:t>fx_power</a:t>
            </a:r>
            <a:r>
              <a:rPr lang="en-US" sz="1600" b="0" strike="noStrike" spc="-1" dirty="0">
                <a:solidFill>
                  <a:srgbClr val="C9211E"/>
                </a:solidFill>
                <a:latin typeface="Consolas"/>
              </a:rPr>
              <a:t>(</a:t>
            </a:r>
            <a:r>
              <a:rPr lang="en-US" sz="1600" b="0" strike="noStrike" spc="-1" dirty="0" err="1">
                <a:solidFill>
                  <a:srgbClr val="C9211E"/>
                </a:solidFill>
                <a:latin typeface="Consolas"/>
              </a:rPr>
              <a:t>cpu</a:t>
            </a:r>
            <a:r>
              <a:rPr lang="en-US" sz="1600" b="0" strike="noStrike" spc="-1" dirty="0">
                <a:solidFill>
                  <a:srgbClr val="C9211E"/>
                </a:solidFill>
                <a:latin typeface="Consolas"/>
              </a:rPr>
              <a:t>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GPUs:</a:t>
            </a:r>
            <a:r>
              <a:rPr lang="en-US" sz="24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power(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gpu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) =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weighted_frac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gpu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600" b="0" strike="noStrike" spc="-1" dirty="0">
                <a:solidFill>
                  <a:srgbClr val="C9211E"/>
                </a:solidFill>
                <a:latin typeface="Consolas"/>
              </a:rPr>
              <a:t>POWER_GPU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Overhead: 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big_cpu_freq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600" b="0" strike="noStrike" spc="-1" dirty="0" err="1">
                <a:solidFill>
                  <a:srgbClr val="C9211E"/>
                </a:solidFill>
                <a:latin typeface="Consolas"/>
              </a:rPr>
              <a:t>big_cpu_overhead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 +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1296000" lvl="2" indent="0">
              <a:spcBef>
                <a:spcPts val="850"/>
              </a:spcBef>
              <a:buNone/>
            </a:pPr>
            <a:r>
              <a:rPr lang="en-US" sz="1600" b="0" strike="noStrike" spc="-1" dirty="0" err="1">
                <a:solidFill>
                  <a:srgbClr val="000000"/>
                </a:solidFill>
                <a:latin typeface="Consolas"/>
              </a:rPr>
              <a:t>little_cpu_freq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600" b="0" strike="noStrike" spc="-1" dirty="0" err="1">
                <a:solidFill>
                  <a:srgbClr val="C9211E"/>
                </a:solidFill>
                <a:latin typeface="Consolas"/>
              </a:rPr>
              <a:t>little_cpu_overhead</a:t>
            </a:r>
            <a:r>
              <a:rPr lang="en-US" sz="1600" b="0" strike="noStrike" spc="-1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600" b="0" strike="noStrike" spc="-1" dirty="0" err="1">
                <a:solidFill>
                  <a:srgbClr val="C9211E"/>
                </a:solidFill>
                <a:latin typeface="Consolas"/>
              </a:rPr>
              <a:t>scale_</a:t>
            </a:r>
            <a:r>
              <a:rPr lang="en-US" sz="1600" b="0" strike="noStrike" spc="-1" dirty="0" err="1">
                <a:solidFill>
                  <a:srgbClr val="00A933"/>
                </a:solidFill>
                <a:latin typeface="Consolas"/>
              </a:rPr>
              <a:t>factor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2000" b="0" strike="noStrike" spc="-1" dirty="0">
                <a:solidFill>
                  <a:srgbClr val="C9211E"/>
                </a:solidFill>
                <a:latin typeface="Arial"/>
              </a:rPr>
              <a:t>*: found by experiments	</a:t>
            </a:r>
            <a:r>
              <a:rPr lang="en-US" sz="2000" b="0" strike="noStrike" spc="-1" dirty="0">
                <a:solidFill>
                  <a:srgbClr val="00A933"/>
                </a:solidFill>
                <a:latin typeface="Arial"/>
              </a:rPr>
              <a:t>	*: found by trial and error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</TotalTime>
  <Words>469</Words>
  <Application>Microsoft Office PowerPoint</Application>
  <PresentationFormat>Custom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Unicode MS</vt:lpstr>
      <vt:lpstr>Consolas</vt:lpstr>
      <vt:lpstr>OpenSymbol</vt:lpstr>
      <vt:lpstr>Symbol</vt:lpstr>
      <vt:lpstr>Times New Roman</vt:lpstr>
      <vt:lpstr>Wingdings</vt:lpstr>
      <vt:lpstr>Office</vt:lpstr>
      <vt:lpstr>Governor</vt:lpstr>
      <vt:lpstr>Index </vt:lpstr>
      <vt:lpstr>Overall structure</vt:lpstr>
      <vt:lpstr>Design-Time: Look-Up table</vt:lpstr>
      <vt:lpstr>Run-Time: MIMO PID-Controller</vt:lpstr>
      <vt:lpstr>PID Controller</vt:lpstr>
      <vt:lpstr>PID Decisions</vt:lpstr>
      <vt:lpstr>Power Estimation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Adam Rakun</cp:lastModifiedBy>
  <cp:revision>3</cp:revision>
  <dcterms:created xsi:type="dcterms:W3CDTF">2026-01-26T20:24:35Z</dcterms:created>
  <dcterms:modified xsi:type="dcterms:W3CDTF">2026-01-28T17:00:42Z</dcterms:modified>
  <dc:language>en-US</dc:language>
</cp:coreProperties>
</file>